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0" y="0"/>
            <a:ext cx="10058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0" y="0"/>
            <a:ext cx="73152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4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NLP • MACHINE LEARNING • SENTIMENT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7315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1F5F9"/>
                </a:solidFill>
                <a:latin typeface="Aptos"/>
              </a:defRPr>
            </a:pPr>
            <a:r>
              <a:t>E-COMMERCE</a:t>
            </a:r>
            <a:br/>
            <a:r>
              <a:t>PRODUCT REVIEW</a:t>
            </a:r>
            <a:br/>
            <a:r>
              <a:t>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Aptos"/>
              </a:defRPr>
            </a:pPr>
            <a:r>
              <a:t>Using Natural Language Processing + TF-IDF + Linear SVM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234440" cy="34747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7880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70C18"/>
                </a:solidFill>
                <a:latin typeface="Aptos"/>
              </a:defRPr>
            </a:pPr>
            <a:r>
              <a:t>POSITIVE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4114800"/>
            <a:ext cx="1143000" cy="347472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39" y="417880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70C18"/>
                </a:solidFill>
                <a:latin typeface="Aptos"/>
              </a:defRPr>
            </a:pPr>
            <a:r>
              <a:t>NEUTRAL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4114800"/>
            <a:ext cx="1234440" cy="347472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417880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70C18"/>
                </a:solidFill>
                <a:latin typeface="Aptos"/>
              </a:defRPr>
            </a:pPr>
            <a:r>
              <a:t>NEGATIVE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383280" cy="434340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08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202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1F5F9"/>
                </a:solidFill>
                <a:latin typeface="Aptos"/>
              </a:defRPr>
            </a:pPr>
            <a:r>
              <a:t>Muhammed</a:t>
            </a:r>
            <a:br/>
            <a:r>
              <a:t>Dhilshad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718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Data Science / B1</a:t>
            </a:r>
            <a:br/>
            <a:r>
              <a:t>Trycod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886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Guide / Mentor</a:t>
            </a:r>
            <a:br/>
            <a:r>
              <a:t>Faizal / Fathima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0" y="0"/>
            <a:ext cx="10058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0" y="0"/>
            <a:ext cx="73152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01 /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Problem &amp; Objective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03520" cy="4297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03520" cy="4297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7185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F5F9"/>
                </a:solidFill>
                <a:latin typeface="Aptos"/>
              </a:defRPr>
            </a:pPr>
            <a:r>
              <a:t>Thousands of reviews are difficult to read manually.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Time-consuming manual analysis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Hard to detect complaints quickly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Difficult to understand overall customer opinion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ptos"/>
              </a:defRPr>
            </a:pPr>
            <a:r>
              <a:t>THE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3172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F5F9"/>
                </a:solidFill>
                <a:latin typeface="Aptos"/>
              </a:defRPr>
            </a:pPr>
            <a:r>
              <a:t>Automatically classify customer reviews.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4612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Positive 😊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Neutral 😐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Negative 😞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Useful for sellers, product teams and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0" y="0"/>
            <a:ext cx="10058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0" y="0"/>
            <a:ext cx="73152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02 /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Dataset &amp; Data Understanding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246120" cy="4526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1417320"/>
            <a:ext cx="7406640" cy="4526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Aptos"/>
              </a:defRPr>
            </a:pPr>
            <a:r>
              <a:t>ecommerce_product_reviews_100k.csv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Aptos"/>
              </a:defRPr>
            </a:pPr>
            <a:r>
              <a:t>100,000 records*</a:t>
            </a:r>
            <a:br/>
            <a:r>
              <a:t>5 core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*Replace with the exact df.shape from your run.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48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488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14884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51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"/>
              </a:defRPr>
            </a:pPr>
            <a:r>
              <a:t>product_category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5176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65176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Aptos"/>
              </a:defRPr>
            </a:pPr>
            <a:r>
              <a:t>Product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2186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"/>
              </a:defRPr>
            </a:pPr>
            <a:r>
              <a:t>product_name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1868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21868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Aptos"/>
              </a:defRPr>
            </a:pPr>
            <a:r>
              <a:t>Product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78561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"/>
              </a:defRPr>
            </a:pPr>
            <a:r>
              <a:t>main_aspect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8561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78561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Aptos"/>
              </a:defRPr>
            </a:pPr>
            <a:r>
              <a:t>Aspect discussed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3525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"/>
              </a:defRPr>
            </a:pPr>
            <a:r>
              <a:t>review_text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5254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435254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Aptos"/>
              </a:defRPr>
            </a:pPr>
            <a:r>
              <a:t>Customer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9194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F5F9"/>
                </a:solidFill>
                <a:latin typeface="Aptos"/>
              </a:defRPr>
            </a:pPr>
            <a:r>
              <a:t>sentiment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91947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491947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Aptos"/>
              </a:defRPr>
            </a:pPr>
            <a:r>
              <a:t>Positive / Neutral / Negative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0" y="0"/>
            <a:ext cx="10058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0" y="0"/>
            <a:ext cx="73152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03 / NLP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Preprocessing &amp; EDA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6583680" cy="4526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52360" y="1417320"/>
            <a:ext cx="4069080" cy="4526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TEXT PREPROCESSING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148840"/>
            <a:ext cx="5394960" cy="3474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1284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70C18"/>
                </a:solidFill>
                <a:latin typeface="Aptos"/>
              </a:defRPr>
            </a:pPr>
            <a:r>
              <a:t>Lowercase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670048"/>
            <a:ext cx="539496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34056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70C18"/>
                </a:solidFill>
                <a:latin typeface="Aptos"/>
              </a:defRPr>
            </a:pPr>
            <a:r>
              <a:t>Remove URLs / 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191256"/>
            <a:ext cx="539496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255264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70C18"/>
                </a:solidFill>
                <a:latin typeface="Aptos"/>
              </a:defRPr>
            </a:pPr>
            <a:r>
              <a:t>Remove numbers &amp; punctuation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712464"/>
            <a:ext cx="5394960" cy="34747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76472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70C18"/>
                </a:solidFill>
                <a:latin typeface="Aptos"/>
              </a:defRPr>
            </a:pPr>
            <a:r>
              <a:t>Tokenize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233672"/>
            <a:ext cx="5394960" cy="347472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8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70C18"/>
                </a:solidFill>
                <a:latin typeface="Aptos"/>
              </a:defRPr>
            </a:pPr>
            <a:r>
              <a:t>Remove stopwords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754879"/>
            <a:ext cx="5394960" cy="3474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1888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70C18"/>
                </a:solidFill>
                <a:latin typeface="Aptos"/>
              </a:defRPr>
            </a:pPr>
            <a:r>
              <a:t>Lemmatize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1945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Aptos"/>
              </a:defRPr>
            </a:pPr>
            <a:r>
              <a:t>• Sentiment distribution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Aptos"/>
              </a:defRPr>
            </a:pPr>
            <a:r>
              <a:t>• Product-category distribution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Aptos"/>
              </a:defRPr>
            </a:pPr>
            <a:r>
              <a:t>• Most common review words</a:t>
            </a:r>
          </a:p>
          <a:p>
            <a:pPr>
              <a:spcAft>
                <a:spcPts val="800"/>
              </a:spcAft>
              <a:defRPr sz="1600">
                <a:solidFill>
                  <a:srgbClr val="94A3B8"/>
                </a:solidFill>
                <a:latin typeface="Aptos"/>
              </a:defRPr>
            </a:pPr>
            <a:r>
              <a:t>• Confusion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ptos"/>
              </a:defRPr>
            </a:pPr>
            <a:r>
              <a:t>KEY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8920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Aptos"/>
              </a:defRPr>
            </a:pPr>
            <a:r>
              <a:t>Clean review text becomes numerical TF-IDF features ready for classification.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0" y="0"/>
            <a:ext cx="10058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0" y="0"/>
            <a:ext cx="73152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04 /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ML Model &amp;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1234440" cy="86868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2542032"/>
            <a:ext cx="1124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1" y="25786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2331720"/>
            <a:ext cx="1234440" cy="86868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12264" y="2542032"/>
            <a:ext cx="1124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  <a:latin typeface="Aptos"/>
              </a:defRPr>
            </a:pPr>
            <a:r>
              <a:t>Train /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25786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331720"/>
            <a:ext cx="1234440" cy="86868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3" y="2542032"/>
            <a:ext cx="1124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  <a:latin typeface="Aptos"/>
              </a:defRPr>
            </a:pPr>
            <a:r>
              <a:t>NLP Cleaning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5786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2331720"/>
            <a:ext cx="1234440" cy="86868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6944" y="2542032"/>
            <a:ext cx="1124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5786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2331720"/>
            <a:ext cx="1234440" cy="86868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75703" y="2542032"/>
            <a:ext cx="1124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  <a:latin typeface="Aptos"/>
              </a:defRPr>
            </a:pPr>
            <a:r>
              <a:t>Linear SVM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25786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2331720"/>
            <a:ext cx="1234440" cy="86868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4" y="2542032"/>
            <a:ext cx="1124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7192" y="25786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2331720"/>
            <a:ext cx="1234440" cy="868680"/>
          </a:xfrm>
          <a:prstGeom prst="roundRect">
            <a:avLst/>
          </a:prstGeom>
          <a:solidFill>
            <a:srgbClr val="141E34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84664" y="2542032"/>
            <a:ext cx="1124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886200"/>
            <a:ext cx="484632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206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572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Converts review text into numerical features using unigram + bigram representations.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86200"/>
            <a:ext cx="484632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206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Aptos"/>
              </a:defRPr>
            </a:pPr>
            <a:r>
              <a:t>LINEAR SVM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572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Suitable for high-dimensional sparse text classification.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0" y="0"/>
            <a:ext cx="10058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0" y="0"/>
            <a:ext cx="73152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05 /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Model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6583680" cy="4526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52360" y="1417320"/>
            <a:ext cx="4069080" cy="4526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MODEL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1488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1488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488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1488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6517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Aptos"/>
              </a:defRPr>
            </a:pPr>
            <a:r>
              <a:t>Linear SVM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65176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65176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65176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65176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9184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Aptos"/>
              </a:defRPr>
            </a:pPr>
            <a:r>
              <a:t>KNN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2918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Aptos"/>
              </a:defRPr>
            </a:pPr>
            <a:r>
              <a:t>86%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2918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Aptos"/>
              </a:defRPr>
            </a:pPr>
            <a:r>
              <a:t>84%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2918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Aptos"/>
              </a:defRPr>
            </a:pPr>
            <a:r>
              <a:t>87%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2918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Aptos"/>
              </a:defRPr>
            </a:pPr>
            <a:r>
              <a:t>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9319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9319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Aptos"/>
              </a:defRPr>
            </a:pPr>
            <a:r>
              <a:t>92%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9319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Aptos"/>
              </a:defRPr>
            </a:pPr>
            <a:r>
              <a:t>91%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9319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Aptos"/>
              </a:defRPr>
            </a:pPr>
            <a:r>
              <a:t>93%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9319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Aptos"/>
              </a:defRPr>
            </a:pPr>
            <a:r>
              <a:t>92%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800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ptos"/>
              </a:defRPr>
            </a:pPr>
            <a:r>
              <a:t>Accuracy • Precision • Recall • F1</a:t>
            </a:r>
            <a:br/>
            <a:r>
              <a:t>Confusion Matrix • Cross-validation / tuning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0116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ADE8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3063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1F5F9"/>
                </a:solidFill>
                <a:latin typeface="Aptos"/>
              </a:defRPr>
            </a:pPr>
            <a:r>
              <a:t>LINEAR SVM</a:t>
            </a:r>
            <a:br/>
            <a:r>
              <a:t>TEST 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160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Aptos"/>
              </a:defRPr>
            </a:pPr>
            <a:r>
              <a:t>Use only if confirmed by your actual evaluation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0" y="0"/>
            <a:ext cx="10058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0" y="0"/>
            <a:ext cx="73152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06 /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Final Solution &amp; Real-World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6675120" cy="4526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43800" y="1417320"/>
            <a:ext cx="3977639" cy="4526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LIVE PREDICTION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194560"/>
            <a:ext cx="43891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58568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70C18"/>
                </a:solidFill>
                <a:latin typeface="Aptos"/>
              </a:defRPr>
            </a:pPr>
            <a:r>
              <a:t>User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55117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788920"/>
            <a:ext cx="438912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852927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70C18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14553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383280"/>
            <a:ext cx="4389120" cy="3474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447288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70C18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73989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977639"/>
            <a:ext cx="4389120" cy="34747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41648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70C18"/>
                </a:solidFill>
                <a:latin typeface="Aptos"/>
              </a:defRPr>
            </a:pPr>
            <a:r>
              <a:t>Linear SVM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33425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572000"/>
            <a:ext cx="4389120" cy="347472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636008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70C18"/>
                </a:solidFill>
                <a:latin typeface="Aptos"/>
              </a:defRPr>
            </a:pPr>
            <a:r>
              <a:t>Sentiment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21945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SAMPLE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260604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“The sound quality is terrible and I am very disappointed.”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3977639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7185"/>
                </a:solidFill>
                <a:latin typeface="Aptos"/>
              </a:defRPr>
            </a:pPr>
            <a:r>
              <a:t>NEGATIVE 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ptos"/>
              </a:defRPr>
            </a:pPr>
            <a:r>
              <a:t>BUSINESS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1945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Faster review analysis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Identify unhappy customers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Spot recurring product issues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Support product decisions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754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GRADIO 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1206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F5F9"/>
                </a:solidFill>
                <a:latin typeface="Aptos"/>
              </a:defRPr>
            </a:pPr>
            <a:r>
              <a:t>Add your application screenshot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0" y="0"/>
            <a:ext cx="10058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0" y="0"/>
            <a:ext cx="73152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07 /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4526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49240" cy="4526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F5F9"/>
                </a:solidFill>
                <a:latin typeface="Aptos"/>
              </a:defRPr>
            </a:pPr>
            <a:r>
              <a:t>End-to-end NLP sentiment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7180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Cleaned review text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Applied TF-IDF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Trained Linear SVM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Built a Gradio prediction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Rating prediction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Aspect-based sentiment analysis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Keyword &amp; complaint extraction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BERT / RoBERTa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Real-time monitoring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Aptos"/>
              </a:defRPr>
            </a:pPr>
            <a:r>
              <a:t>• Web / mobile / cloud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074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1F5F9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Aptos"/>
              </a:defRPr>
            </a:pPr>
            <a:r>
              <a:t>Questions &amp; Answers?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